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5/19/2026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14F5B-2E8A-808C-698F-2F816883A0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Bodoni MT" panose="02070603080606020203" pitchFamily="18" charset="0"/>
              </a:rPr>
              <a:t>Bike Rental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DA89A-37D6-BAAF-651D-5C0CBB4045A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  <a:latin typeface="Bodoni MT" panose="02070603080606020203" pitchFamily="18" charset="0"/>
              </a:rPr>
              <a:t>Palak Malviya</a:t>
            </a:r>
          </a:p>
        </p:txBody>
      </p:sp>
    </p:spTree>
    <p:extLst>
      <p:ext uri="{BB962C8B-B14F-4D97-AF65-F5344CB8AC3E}">
        <p14:creationId xmlns:p14="http://schemas.microsoft.com/office/powerpoint/2010/main" val="1296369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CAE18-ABA9-08FF-F955-F0BBBCE6A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524381"/>
            <a:ext cx="5171768" cy="989787"/>
          </a:xfrm>
        </p:spPr>
        <p:txBody>
          <a:bodyPr/>
          <a:lstStyle/>
          <a:p>
            <a:pPr algn="ctr"/>
            <a:r>
              <a:rPr lang="en-US" dirty="0">
                <a:latin typeface="Bodoni MT" panose="02070603080606020203" pitchFamily="18" charset="0"/>
              </a:rPr>
              <a:t>Rentals by Month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1DB36F-6A98-0777-3240-0FAFF5A2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59585" y="1421307"/>
            <a:ext cx="5171769" cy="428795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T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here is a significant drop in rentals from January to February </a:t>
            </a:r>
            <a:r>
              <a:rPr lang="en-US" sz="1800" dirty="0">
                <a:latin typeface="Bodoni MT" panose="02070603080606020203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latin typeface="Bodoni MT" panose="02070603080606020203" pitchFamily="18" charset="0"/>
              </a:rPr>
              <a:t>January: </a:t>
            </a:r>
            <a:r>
              <a:rPr lang="en-US" sz="1600" b="1" cap="none" dirty="0">
                <a:latin typeface="Bodoni MT" panose="02070603080606020203" pitchFamily="18" charset="0"/>
              </a:rPr>
              <a:t>2,617,510.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cap="none" dirty="0">
                <a:latin typeface="Bodoni MT" panose="02070603080606020203" pitchFamily="18" charset="0"/>
              </a:rPr>
              <a:t>February: </a:t>
            </a:r>
            <a:r>
              <a:rPr lang="en-US" sz="1600" b="1" cap="none" dirty="0">
                <a:latin typeface="Bodoni MT" panose="02070603080606020203" pitchFamily="18" charset="0"/>
              </a:rPr>
              <a:t>20,115 .</a:t>
            </a:r>
          </a:p>
          <a:p>
            <a:r>
              <a:rPr lang="en-US" sz="1800" u="sng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January peak performance :-</a:t>
            </a:r>
          </a:p>
          <a:p>
            <a:r>
              <a:rPr lang="en-US" sz="1600" b="1" u="sng" cap="none" dirty="0">
                <a:latin typeface="Bodoni MT" panose="02070603080606020203" pitchFamily="18" charset="0"/>
              </a:rPr>
              <a:t>       </a:t>
            </a:r>
            <a:r>
              <a:rPr lang="en-US" sz="1600" cap="none" dirty="0">
                <a:latin typeface="Bodoni MT" panose="02070603080606020203" pitchFamily="18" charset="0"/>
              </a:rPr>
              <a:t>January Shows Very High Rental Activity, Indicating     Strong Demand During That Period.</a:t>
            </a:r>
          </a:p>
          <a:p>
            <a:r>
              <a:rPr lang="en-US" sz="1900" u="sng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February unusually low :-</a:t>
            </a:r>
          </a:p>
          <a:p>
            <a:r>
              <a:rPr lang="en-US" sz="1600" u="sng" cap="none" dirty="0">
                <a:latin typeface="Bodoni MT" panose="02070603080606020203" pitchFamily="18" charset="0"/>
              </a:rPr>
              <a:t>      </a:t>
            </a:r>
            <a:r>
              <a:rPr lang="en-US" sz="1600" cap="none" dirty="0">
                <a:latin typeface="Bodoni MT" panose="02070603080606020203" pitchFamily="18" charset="0"/>
              </a:rPr>
              <a:t>February Has Very Low Rentals, Which Is Not Normal Compared To January</a:t>
            </a:r>
            <a:endParaRPr lang="en-US" sz="1600" u="sng" cap="none" dirty="0">
              <a:latin typeface="Bodoni MT" panose="02070603080606020203" pitchFamily="18" charset="0"/>
            </a:endParaRPr>
          </a:p>
          <a:p>
            <a:endParaRPr lang="en-US" sz="1900" b="1" u="sng" dirty="0">
              <a:latin typeface="Bodoni MT" panose="020706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E2C9E-C734-31FD-6123-DC34F4CCE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819" y="1888887"/>
            <a:ext cx="4621375" cy="335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970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DB5C-5068-6FC9-5394-7EC09B243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929" y="662032"/>
            <a:ext cx="5532414" cy="350692"/>
          </a:xfrm>
        </p:spPr>
        <p:txBody>
          <a:bodyPr/>
          <a:lstStyle/>
          <a:p>
            <a:pPr algn="ctr"/>
            <a:r>
              <a:rPr lang="en-US" sz="2800" dirty="0"/>
              <a:t>Casual vs Registered Users</a:t>
            </a:r>
            <a:endParaRPr lang="en-US" sz="2800" dirty="0">
              <a:latin typeface="Bodoni MT" panose="020706030806060202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9466F-5568-C837-CE86-5197F79FF1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2" y="1434312"/>
            <a:ext cx="5532414" cy="4375355"/>
          </a:xfrm>
        </p:spPr>
        <p:txBody>
          <a:bodyPr anchor="b">
            <a:normAutofit fontScale="85000" lnSpcReduction="20000"/>
          </a:bodyPr>
          <a:lstStyle/>
          <a:p>
            <a:pPr>
              <a:spcBef>
                <a:spcPts val="0"/>
              </a:spcBef>
            </a:pPr>
            <a:endParaRPr lang="en-US" u="sng" dirty="0">
              <a:latin typeface="Bodoni MT" panose="020706030806060202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2100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Casual user vs registered user   :-</a:t>
            </a:r>
          </a:p>
          <a:p>
            <a:pPr>
              <a:spcBef>
                <a:spcPts val="0"/>
              </a:spcBef>
            </a:pPr>
            <a:endParaRPr lang="en-US" sz="1800" dirty="0">
              <a:solidFill>
                <a:schemeClr val="accent1">
                  <a:lumMod val="75000"/>
                </a:schemeClr>
              </a:solidFill>
              <a:latin typeface="Bodoni MT" panose="02070603080606020203" pitchFamily="18" charset="0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cap="none" dirty="0">
                <a:latin typeface="Bodoni MT" panose="02070603080606020203" pitchFamily="18" charset="0"/>
              </a:rPr>
              <a:t>Registered Users Contribute Significantly More Rentals Compared To Casual Users 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cap="none" dirty="0">
                <a:latin typeface="Bodoni MT" panose="02070603080606020203" pitchFamily="18" charset="0"/>
              </a:rPr>
              <a:t>Casual Users Show Lower And More Fluctuating Usage.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cap="none" dirty="0">
                <a:latin typeface="Bodoni MT" panose="02070603080606020203" pitchFamily="18" charset="0"/>
              </a:rPr>
              <a:t>Registered Users Show A More Stable And Consistent Pattern Over Time.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cap="none" dirty="0">
                <a:latin typeface="Bodoni MT" panose="02070603080606020203" pitchFamily="18" charset="0"/>
              </a:rPr>
              <a:t>Most Of The Peak Values Are Driven By Registered Users.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cap="none" dirty="0">
                <a:latin typeface="Bodoni MT" panose="02070603080606020203" pitchFamily="18" charset="0"/>
              </a:rPr>
              <a:t>The Business Relies Heavily On Registered Users, While Casual Users Contribute Less And Are More Unpredictable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1500" dirty="0">
              <a:latin typeface="Bodoni MT" panose="02070603080606020203" pitchFamily="18" charset="0"/>
            </a:endParaRPr>
          </a:p>
          <a:p>
            <a:pPr>
              <a:spcBef>
                <a:spcPts val="600"/>
              </a:spcBef>
            </a:pPr>
            <a:endParaRPr lang="en-US" sz="1500" dirty="0">
              <a:latin typeface="Bodoni MT" panose="02070603080606020203" pitchFamily="18" charset="0"/>
            </a:endParaRPr>
          </a:p>
          <a:p>
            <a:pPr>
              <a:spcBef>
                <a:spcPts val="600"/>
              </a:spcBef>
            </a:pPr>
            <a:r>
              <a:rPr lang="en-US" sz="2100" cap="none" dirty="0">
                <a:latin typeface="Bodoni MT" panose="02070603080606020203" pitchFamily="18" charset="0"/>
              </a:rPr>
              <a:t>“Registered Users Dominate And Are Consistent, While Casual Users Are Fewer And Unpredictable.”</a:t>
            </a:r>
          </a:p>
          <a:p>
            <a:endParaRPr lang="en-US" u="sng" dirty="0">
              <a:latin typeface="Bodoni MT" panose="020706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7A576-C48E-BC87-82D0-7D49F91D8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394" y="1238863"/>
            <a:ext cx="4817806" cy="238312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0DD431A-A83B-9E78-748A-80DFD4E2A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94" y="3712567"/>
            <a:ext cx="4906060" cy="265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706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81F3C-FC6E-0321-42B9-4E47457B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277" y="671865"/>
            <a:ext cx="5584723" cy="734148"/>
          </a:xfrm>
        </p:spPr>
        <p:txBody>
          <a:bodyPr/>
          <a:lstStyle/>
          <a:p>
            <a:pPr algn="ctr"/>
            <a:r>
              <a:rPr lang="en-US" dirty="0">
                <a:latin typeface="Bodoni MT" panose="02070603080606020203" pitchFamily="18" charset="0"/>
              </a:rPr>
              <a:t>Rentals by Weather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167483-2716-024C-8E65-C0EA12A78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87404" y="1598554"/>
            <a:ext cx="4984954" cy="5522458"/>
          </a:xfrm>
        </p:spPr>
        <p:txBody>
          <a:bodyPr>
            <a:normAutofit fontScale="62500" lnSpcReduction="20000"/>
          </a:bodyPr>
          <a:lstStyle/>
          <a:p>
            <a:r>
              <a:rPr lang="en-US" sz="2900" b="1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The majority of rentals occur during clear weather conditions.</a:t>
            </a:r>
            <a:endParaRPr lang="en-US" sz="2900" dirty="0">
              <a:solidFill>
                <a:schemeClr val="accent1">
                  <a:lumMod val="75000"/>
                </a:schemeClr>
              </a:solidFill>
              <a:latin typeface="Bodoni MT" panose="02070603080606020203" pitchFamily="18" charset="0"/>
            </a:endParaRPr>
          </a:p>
          <a:p>
            <a:r>
              <a:rPr lang="en-US" dirty="0">
                <a:latin typeface="Bodoni MT" panose="02070603080606020203" pitchFamily="18" charset="0"/>
              </a:rPr>
              <a:t> </a:t>
            </a:r>
            <a:r>
              <a:rPr lang="en-US" sz="2600" cap="none" dirty="0">
                <a:latin typeface="Bodoni MT" panose="02070603080606020203" pitchFamily="18" charset="0"/>
              </a:rPr>
              <a:t>Weather Type </a:t>
            </a:r>
            <a:r>
              <a:rPr lang="en-US" sz="2600" b="1" cap="none" dirty="0">
                <a:latin typeface="Bodoni MT" panose="02070603080606020203" pitchFamily="18" charset="0"/>
              </a:rPr>
              <a:t>1</a:t>
            </a:r>
            <a:r>
              <a:rPr lang="en-US" sz="2600" cap="none" dirty="0">
                <a:latin typeface="Bodoni MT" panose="02070603080606020203" pitchFamily="18" charset="0"/>
              </a:rPr>
              <a:t> Has The Highest Demand:</a:t>
            </a:r>
          </a:p>
          <a:p>
            <a:r>
              <a:rPr lang="en-US" sz="2600" b="1" cap="none" dirty="0">
                <a:latin typeface="Bodoni MT" panose="02070603080606020203" pitchFamily="18" charset="0"/>
              </a:rPr>
              <a:t>  1,302,217 Rentals</a:t>
            </a:r>
            <a:r>
              <a:rPr lang="en-US" sz="2600" cap="none" dirty="0">
                <a:latin typeface="Bodoni MT" panose="02070603080606020203" pitchFamily="18" charset="0"/>
              </a:rPr>
              <a:t> </a:t>
            </a:r>
          </a:p>
          <a:p>
            <a:r>
              <a:rPr lang="en-US" sz="2600" cap="none" dirty="0">
                <a:latin typeface="Bodoni MT" panose="02070603080606020203" pitchFamily="18" charset="0"/>
              </a:rPr>
              <a:t> Users Prefer Bikes When Weather Is   Comfortable And Clear</a:t>
            </a:r>
          </a:p>
          <a:p>
            <a:r>
              <a:rPr lang="en-US" sz="2900" b="1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Rental demand slightly decreases during cloudy or misty weather conditions.</a:t>
            </a:r>
          </a:p>
          <a:p>
            <a:r>
              <a:rPr lang="en-US" dirty="0">
                <a:latin typeface="Bodoni MT" panose="02070603080606020203" pitchFamily="18" charset="0"/>
              </a:rPr>
              <a:t> </a:t>
            </a:r>
            <a:r>
              <a:rPr lang="en-US" sz="2600" cap="none" dirty="0">
                <a:latin typeface="Bodoni MT" panose="02070603080606020203" pitchFamily="18" charset="0"/>
              </a:rPr>
              <a:t>Weather Type </a:t>
            </a:r>
            <a:r>
              <a:rPr lang="en-US" sz="2600" b="1" cap="none" dirty="0">
                <a:latin typeface="Bodoni MT" panose="02070603080606020203" pitchFamily="18" charset="0"/>
              </a:rPr>
              <a:t>2</a:t>
            </a:r>
            <a:r>
              <a:rPr lang="en-US" sz="2600" cap="none" dirty="0">
                <a:latin typeface="Bodoni MT" panose="02070603080606020203" pitchFamily="18" charset="0"/>
              </a:rPr>
              <a:t>:</a:t>
            </a:r>
          </a:p>
          <a:p>
            <a:r>
              <a:rPr lang="en-US" sz="2600" b="1" cap="none" dirty="0">
                <a:latin typeface="Bodoni MT" panose="02070603080606020203" pitchFamily="18" charset="0"/>
              </a:rPr>
              <a:t>  1,252,476 Rentals </a:t>
            </a:r>
          </a:p>
          <a:p>
            <a:r>
              <a:rPr lang="en-US" sz="2600" cap="none" dirty="0">
                <a:latin typeface="Bodoni MT" panose="02070603080606020203" pitchFamily="18" charset="0"/>
              </a:rPr>
              <a:t>Demand Is Still High But Lower Than Clear Weather</a:t>
            </a:r>
          </a:p>
          <a:p>
            <a:r>
              <a:rPr lang="en-US" sz="2900" b="1" dirty="0">
                <a:solidFill>
                  <a:schemeClr val="accent1">
                    <a:lumMod val="75000"/>
                  </a:schemeClr>
                </a:solidFill>
                <a:latin typeface="Bodoni MT" panose="02070603080606020203" pitchFamily="18" charset="0"/>
              </a:rPr>
              <a:t>Rental demand drops significantly during rainy or harsh weather conditions.</a:t>
            </a:r>
          </a:p>
          <a:p>
            <a:r>
              <a:rPr lang="en-US" sz="2600" cap="none" dirty="0">
                <a:latin typeface="Bodoni MT" panose="02070603080606020203" pitchFamily="18" charset="0"/>
              </a:rPr>
              <a:t>Weather Type </a:t>
            </a:r>
            <a:r>
              <a:rPr lang="en-US" sz="2600" b="1" cap="none" dirty="0">
                <a:latin typeface="Bodoni MT" panose="02070603080606020203" pitchFamily="18" charset="0"/>
              </a:rPr>
              <a:t>3</a:t>
            </a:r>
            <a:r>
              <a:rPr lang="en-US" sz="2600" cap="none" dirty="0">
                <a:latin typeface="Bodoni MT" panose="02070603080606020203" pitchFamily="18" charset="0"/>
              </a:rPr>
              <a:t>:</a:t>
            </a:r>
          </a:p>
          <a:p>
            <a:r>
              <a:rPr lang="en-US" sz="2600" cap="none" dirty="0">
                <a:latin typeface="Bodoni MT" panose="02070603080606020203" pitchFamily="18" charset="0"/>
              </a:rPr>
              <a:t>Only </a:t>
            </a:r>
            <a:r>
              <a:rPr lang="en-US" sz="2600" b="1" cap="none" dirty="0">
                <a:latin typeface="Bodoni MT" panose="02070603080606020203" pitchFamily="18" charset="0"/>
              </a:rPr>
              <a:t>82,932 Rentals</a:t>
            </a:r>
            <a:r>
              <a:rPr lang="en-US" sz="2600" cap="none" dirty="0">
                <a:latin typeface="Bodoni MT" panose="02070603080606020203" pitchFamily="18" charset="0"/>
              </a:rPr>
              <a:t> </a:t>
            </a:r>
          </a:p>
          <a:p>
            <a:r>
              <a:rPr lang="en-US" sz="2600" cap="none" dirty="0">
                <a:latin typeface="Bodoni MT" panose="02070603080606020203" pitchFamily="18" charset="0"/>
              </a:rPr>
              <a:t>Rain/Bad Weather Strongly Discourages Bike Usage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FCFF6A-2CF1-813F-55EF-509D5BE0A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414" y="1829536"/>
            <a:ext cx="4984954" cy="313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227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84CA6-7A88-E9B9-D710-C1DC8705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631" y="730858"/>
            <a:ext cx="4832892" cy="793142"/>
          </a:xfrm>
        </p:spPr>
        <p:txBody>
          <a:bodyPr/>
          <a:lstStyle/>
          <a:p>
            <a:pPr algn="ctr"/>
            <a:r>
              <a:rPr lang="en-US" dirty="0">
                <a:latin typeface="Bodoni MT" panose="02070603080606020203" pitchFamily="18" charset="0"/>
              </a:rPr>
              <a:t>Rentals by Hour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12A94-4D0D-BF9F-B937-BFC5F860D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5705" y="1524000"/>
            <a:ext cx="5640571" cy="513461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The highest number of rentals occurs during evening hours, especially around 5 PM to 6 PM.</a:t>
            </a:r>
            <a:endParaRPr lang="en-US" sz="1800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  <a:p>
            <a:r>
              <a:rPr lang="en-US" sz="1600" dirty="0">
                <a:latin typeface="Bodoni MT" panose="02070603080606020203" pitchFamily="18" charset="0"/>
              </a:rPr>
              <a:t>            </a:t>
            </a:r>
            <a:r>
              <a:rPr lang="en-US" sz="1600" cap="none" dirty="0">
                <a:latin typeface="Bodoni MT" panose="02070603080606020203" pitchFamily="18" charset="0"/>
              </a:rPr>
              <a:t>Around </a:t>
            </a:r>
            <a:r>
              <a:rPr lang="en-US" sz="1600" b="1" cap="none" dirty="0">
                <a:latin typeface="Bodoni MT" panose="02070603080606020203" pitchFamily="18" charset="0"/>
              </a:rPr>
              <a:t>17:00–18:00 (5–6 PM)</a:t>
            </a:r>
            <a:r>
              <a:rPr lang="en-US" sz="1600" cap="none" dirty="0">
                <a:latin typeface="Bodoni MT" panose="02070603080606020203" pitchFamily="18" charset="0"/>
              </a:rPr>
              <a:t> </a:t>
            </a:r>
          </a:p>
          <a:p>
            <a:r>
              <a:rPr lang="en-US" sz="1600" cap="none" dirty="0">
                <a:latin typeface="Bodoni MT" panose="02070603080606020203" pitchFamily="18" charset="0"/>
              </a:rPr>
              <a:t>            Rentals Reach Nearly </a:t>
            </a:r>
            <a:r>
              <a:rPr lang="en-US" sz="1600" b="1" cap="none" dirty="0">
                <a:latin typeface="Bodoni MT" panose="02070603080606020203" pitchFamily="18" charset="0"/>
              </a:rPr>
              <a:t>300,000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Rental demand starts increasing in the morning hours.</a:t>
            </a:r>
          </a:p>
          <a:p>
            <a:r>
              <a:rPr lang="en-US" sz="1600" cap="none" dirty="0">
                <a:latin typeface="Bodoni MT" panose="02070603080606020203" pitchFamily="18" charset="0"/>
              </a:rPr>
              <a:t>            8 AM To 9 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Late-night and early morning hours show the lowest rental activity.</a:t>
            </a:r>
          </a:p>
          <a:p>
            <a:r>
              <a:rPr lang="en-US" sz="1600" dirty="0">
                <a:latin typeface="Bodoni MT" panose="02070603080606020203" pitchFamily="18" charset="0"/>
              </a:rPr>
              <a:t>           </a:t>
            </a:r>
            <a:r>
              <a:rPr lang="en-US" sz="1600" cap="none" dirty="0">
                <a:latin typeface="Bodoni MT" panose="02070603080606020203" pitchFamily="18" charset="0"/>
              </a:rPr>
              <a:t>12 AM To 5 AM</a:t>
            </a:r>
          </a:p>
          <a:p>
            <a:endParaRPr lang="en-US" sz="1600" dirty="0">
              <a:latin typeface="Bodoni MT" panose="02070603080606020203" pitchFamily="18" charset="0"/>
            </a:endParaRPr>
          </a:p>
          <a:p>
            <a:r>
              <a:rPr lang="en-US" sz="1800" cap="none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“The Data Shows A Clear Commuting Pattern With Two Major Peaks — Morning And Evening.”</a:t>
            </a:r>
          </a:p>
          <a:p>
            <a:endParaRPr lang="en-US" sz="1600" b="1" dirty="0">
              <a:latin typeface="Bodoni MT" panose="02070603080606020203" pitchFamily="18" charset="0"/>
            </a:endParaRPr>
          </a:p>
          <a:p>
            <a:endParaRPr lang="en-US" sz="1800" dirty="0">
              <a:latin typeface="Bodoni MT" panose="020706030806060202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EECE20-262C-C8A3-B520-B381946EEF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05" y="1723381"/>
            <a:ext cx="4832892" cy="32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42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40F8D-19A4-AFC4-6EDA-CD5D4F2E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458" y="632536"/>
            <a:ext cx="5791200" cy="901297"/>
          </a:xfrm>
        </p:spPr>
        <p:txBody>
          <a:bodyPr/>
          <a:lstStyle/>
          <a:p>
            <a:pPr algn="ctr"/>
            <a:r>
              <a:rPr lang="en-US" sz="3200" dirty="0">
                <a:latin typeface="Bodoni MT" panose="02070603080606020203" pitchFamily="18" charset="0"/>
              </a:rPr>
              <a:t>Rental by Weekend / Weekday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346CD1-14E8-2B84-B990-FE094DD7D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83427" y="1419114"/>
            <a:ext cx="5608573" cy="4785041"/>
          </a:xfrm>
        </p:spPr>
        <p:txBody>
          <a:bodyPr>
            <a:normAutofit fontScale="92500" lnSpcReduction="20000"/>
          </a:bodyPr>
          <a:lstStyle/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The majority of bike rentals occur on weekdays compared to weekends.</a:t>
            </a:r>
          </a:p>
          <a:p>
            <a:r>
              <a:rPr lang="en-US" sz="1900" cap="none" dirty="0">
                <a:latin typeface="Bodoni MT" panose="02070603080606020203" pitchFamily="18" charset="0"/>
              </a:rPr>
              <a:t>        Weekday Rentals:</a:t>
            </a:r>
          </a:p>
          <a:p>
            <a:r>
              <a:rPr lang="en-US" sz="1900" b="1" cap="none" dirty="0">
                <a:latin typeface="Bodoni MT" panose="02070603080606020203" pitchFamily="18" charset="0"/>
              </a:rPr>
              <a:t>             1,965,853</a:t>
            </a:r>
            <a:r>
              <a:rPr lang="en-US" sz="1900" cap="none" dirty="0">
                <a:latin typeface="Bodoni MT" panose="02070603080606020203" pitchFamily="18" charset="0"/>
              </a:rPr>
              <a:t> </a:t>
            </a:r>
          </a:p>
          <a:p>
            <a:r>
              <a:rPr lang="en-US" sz="1900" cap="none" dirty="0">
                <a:latin typeface="Bodoni MT" panose="02070603080606020203" pitchFamily="18" charset="0"/>
              </a:rPr>
              <a:t>        Weekend Rentals:</a:t>
            </a:r>
          </a:p>
          <a:p>
            <a:r>
              <a:rPr lang="en-US" sz="1900" b="1" cap="none" dirty="0">
                <a:latin typeface="Bodoni MT" panose="02070603080606020203" pitchFamily="18" charset="0"/>
              </a:rPr>
              <a:t>            671,772</a:t>
            </a:r>
            <a:r>
              <a:rPr lang="en-US" sz="1900" cap="none" dirty="0">
                <a:latin typeface="Bodoni MT" panose="02070603080606020203" pitchFamily="18" charset="0"/>
              </a:rPr>
              <a:t> </a:t>
            </a:r>
          </a:p>
          <a:p>
            <a:r>
              <a:rPr lang="en-US" sz="1900" cap="none" dirty="0">
                <a:latin typeface="Bodoni MT" panose="02070603080606020203" pitchFamily="18" charset="0"/>
              </a:rPr>
              <a:t>Most Users Rent Bikes During Working Days</a:t>
            </a:r>
          </a:p>
          <a:p>
            <a:endParaRPr lang="en-US" dirty="0">
              <a:latin typeface="Bodoni MT" panose="02070603080606020203" pitchFamily="18" charset="0"/>
            </a:endParaRPr>
          </a:p>
          <a:p>
            <a:r>
              <a:rPr lang="en-US" sz="2100" b="1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Rental demand decreases on weekends, indicating lower commuting activity.</a:t>
            </a:r>
            <a:endParaRPr lang="en-US" sz="2100" dirty="0">
              <a:solidFill>
                <a:schemeClr val="accent2">
                  <a:lumMod val="75000"/>
                </a:schemeClr>
              </a:solidFill>
              <a:latin typeface="Bodoni MT" panose="02070603080606020203" pitchFamily="18" charset="0"/>
            </a:endParaRPr>
          </a:p>
          <a:p>
            <a:r>
              <a:rPr lang="en-US" sz="1900" cap="none" dirty="0">
                <a:latin typeface="Bodoni MT" panose="02070603080606020203" pitchFamily="18" charset="0"/>
              </a:rPr>
              <a:t>Weekend Usage Is More Casual Or Leisure-based</a:t>
            </a:r>
          </a:p>
          <a:p>
            <a:endParaRPr lang="en-US" dirty="0"/>
          </a:p>
          <a:p>
            <a:r>
              <a:rPr lang="en-US" sz="1900" cap="none" dirty="0">
                <a:solidFill>
                  <a:schemeClr val="accent2">
                    <a:lumMod val="75000"/>
                  </a:schemeClr>
                </a:solidFill>
              </a:rPr>
              <a:t>“</a:t>
            </a:r>
            <a:r>
              <a:rPr lang="en-US" sz="1900" cap="none" dirty="0">
                <a:solidFill>
                  <a:schemeClr val="accent2">
                    <a:lumMod val="75000"/>
                  </a:schemeClr>
                </a:solidFill>
                <a:latin typeface="Bodoni MT" panose="02070603080606020203" pitchFamily="18" charset="0"/>
              </a:rPr>
              <a:t>Bike Rentals Are Significantly Higher On Weekdays, Showing Strong Office And Daily Commute Usage.”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CED9B0-3E71-0532-32C7-77F564D94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95" y="1823267"/>
            <a:ext cx="5225115" cy="3211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289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4F680C-D55A-1D94-600F-F50EAB1A6490}"/>
              </a:ext>
            </a:extLst>
          </p:cNvPr>
          <p:cNvSpPr txBox="1"/>
          <p:nvPr/>
        </p:nvSpPr>
        <p:spPr>
          <a:xfrm>
            <a:off x="1243780" y="2413337"/>
            <a:ext cx="94143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7200" b="1" u="sng" dirty="0">
                <a:solidFill>
                  <a:schemeClr val="accent1">
                    <a:lumMod val="50000"/>
                  </a:schemeClr>
                </a:solidFill>
                <a:latin typeface="Algerian" panose="04020705040A020607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523781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{A82805AD-B238-4ABE-A661-71D0132F283C}TF229edf6a-8a49-49ee-a0a6-5037052947485fb3ca0c-bc27bf41d645</Template>
  <TotalTime>2855</TotalTime>
  <Words>395</Words>
  <Application>Microsoft Office PowerPoint</Application>
  <PresentationFormat>Widescreen</PresentationFormat>
  <Paragraphs>59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Algerian</vt:lpstr>
      <vt:lpstr>Arial</vt:lpstr>
      <vt:lpstr>Bodoni MT</vt:lpstr>
      <vt:lpstr>Century Gothic</vt:lpstr>
      <vt:lpstr>Wingdings 3</vt:lpstr>
      <vt:lpstr>Ion Boardroom</vt:lpstr>
      <vt:lpstr>Bike Rental Analysis</vt:lpstr>
      <vt:lpstr>Rentals by Month</vt:lpstr>
      <vt:lpstr>Casual vs Registered Users</vt:lpstr>
      <vt:lpstr>Rentals by Weather</vt:lpstr>
      <vt:lpstr>Rentals by Hour</vt:lpstr>
      <vt:lpstr>Rental by Weekend / Weekday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malviyapalak05@gmail.com</dc:creator>
  <cp:lastModifiedBy>malviyapalak05@gmail.com</cp:lastModifiedBy>
  <cp:revision>2</cp:revision>
  <dcterms:created xsi:type="dcterms:W3CDTF">2026-05-19T10:00:48Z</dcterms:created>
  <dcterms:modified xsi:type="dcterms:W3CDTF">2026-05-21T09:36:35Z</dcterms:modified>
</cp:coreProperties>
</file>